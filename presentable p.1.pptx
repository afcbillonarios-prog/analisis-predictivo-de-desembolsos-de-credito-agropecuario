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7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6866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2C5F2D">
              <a:alpha val="30000"/>
            </a:srgbClr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274320"/>
            <a:ext cx="1828800" cy="1828800"/>
          </a:xfrm>
          <a:prstGeom prst="ellipse">
            <a:avLst/>
          </a:prstGeom>
          <a:solidFill>
            <a:srgbClr val="6AAE55">
              <a:alpha val="40000"/>
            </a:srgbClr>
          </a:solidFill>
          <a:ln w="12700">
            <a:solidFill>
              <a:srgbClr val="6AAE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840480"/>
            <a:ext cx="2286000" cy="2286000"/>
          </a:xfrm>
          <a:prstGeom prst="ellipse">
            <a:avLst/>
          </a:prstGeom>
          <a:solidFill>
            <a:srgbClr val="2C5F2D">
              <a:alpha val="30000"/>
            </a:srgbClr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36576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65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C2A"/>
                </a:solidFill>
              </a:rPr>
              <a:t>TALENTO TECH · ENCUENTRO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804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0D882"/>
                </a:solidFill>
              </a:rPr>
              <a:t>Módulo: Aprendizaje Inteligente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Análisis Predictivo de</a:t>
            </a:r>
            <a:endParaRPr lang="en-US" sz="3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Desembolsos de Crédito</a:t>
            </a:r>
            <a:endParaRPr lang="en-US" sz="3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Agropecuario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F0D882"/>
                </a:solidFill>
              </a:rPr>
              <a:t>De datos a decisiones: ML para transformar realidades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822192"/>
            <a:ext cx="5029200" cy="36576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9776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08F"/>
                </a:solidFill>
              </a:rPr>
              <a:t>Grupo: Andrés Restrepo · Sebastián Vélez · Julián Trujillo · Yuri Castañeda</a:t>
            </a:r>
            <a:endParaRPr lang="en-US" sz="11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2286000"/>
            <a:ext cx="914400" cy="9144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59536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8F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  EL PROBLEMA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08F"/>
                </a:solidFill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868680"/>
            <a:ext cx="594360" cy="5943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97840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8961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1A"/>
                </a:solidFill>
              </a:rPr>
              <a:t>Contexto del problema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141732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E4A"/>
                </a:solidFill>
              </a:rPr>
              <a:t>El sector agropecuario genera grandes volúmenes de datos sobre créditos de fomento, pero muchas decisiones aún dependen de revisiones manuales o reportes descriptivos.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606040"/>
            <a:ext cx="384048" cy="384048"/>
          </a:xfrm>
          <a:prstGeom prst="ellipse">
            <a:avLst/>
          </a:prstGeom>
          <a:solidFill>
            <a:srgbClr val="EDF3E8"/>
          </a:solidFill>
          <a:ln w="12700">
            <a:solidFill>
              <a:srgbClr val="4A8C3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262432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26060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</a:rPr>
              <a:t>885 MB de datos reales de desembolsos agropecuarios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3264408"/>
            <a:ext cx="384048" cy="384048"/>
          </a:xfrm>
          <a:prstGeom prst="ellipse">
            <a:avLst/>
          </a:prstGeom>
          <a:solidFill>
            <a:srgbClr val="EDF3E8"/>
          </a:solidFill>
          <a:ln w="12700">
            <a:solidFill>
              <a:srgbClr val="4A8C3F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3282696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326440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</a:rPr>
              <a:t>Análisis manual, sin modelos predictivos aplicados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3922776"/>
            <a:ext cx="384048" cy="384048"/>
          </a:xfrm>
          <a:prstGeom prst="ellipse">
            <a:avLst/>
          </a:prstGeom>
          <a:solidFill>
            <a:srgbClr val="EDF3E8"/>
          </a:solidFill>
          <a:ln w="12700">
            <a:solidFill>
              <a:srgbClr val="4A8C3F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394106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392277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1A"/>
                </a:solidFill>
              </a:rPr>
              <a:t>Brecha entre datos disponibles y decisiones basadas en IA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669280" y="777240"/>
            <a:ext cx="3200400" cy="1737360"/>
          </a:xfrm>
          <a:prstGeom prst="roundRect">
            <a:avLst>
              <a:gd name="adj" fmla="val 6316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897880" y="896112"/>
            <a:ext cx="502920" cy="50292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969264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92240" y="914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Variable objetivo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5897880" y="13258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Numérica: </a:t>
            </a:r>
            <a:r>
              <a:rPr lang="en-US" sz="1050" dirty="0">
                <a:solidFill>
                  <a:srgbClr val="FFFFFF"/>
                </a:solidFill>
              </a:rPr>
              <a:t>plazo del crédito
</a:t>
            </a:r>
            <a:r>
              <a:rPr lang="en-US" sz="1050" b="1" dirty="0">
                <a:solidFill>
                  <a:srgbClr val="FFFFFF"/>
                </a:solidFill>
              </a:rPr>
              <a:t>Binaria simulada: </a:t>
            </a:r>
            <a:r>
              <a:rPr lang="en-US" sz="1050" dirty="0">
                <a:solidFill>
                  <a:srgbClr val="FFFFFF"/>
                </a:solidFill>
              </a:rPr>
              <a:t>resuelto a tiempo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(umbral = mediana del dataset)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5669280" y="2624328"/>
            <a:ext cx="3200400" cy="20848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5897880" y="2743200"/>
            <a:ext cx="502920" cy="502920"/>
          </a:xfrm>
          <a:prstGeom prst="ellipse">
            <a:avLst/>
          </a:prstGeom>
          <a:solidFill>
            <a:srgbClr val="6AAE55"/>
          </a:solidFill>
          <a:ln w="12700">
            <a:solidFill>
              <a:srgbClr val="6AAE55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9320" y="2807208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492240" y="27614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1A"/>
                </a:solidFill>
              </a:rPr>
              <a:t>Pregunta de investigación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5897880" y="333756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5E4A"/>
                </a:solidFill>
              </a:rPr>
              <a:t>¿Cómo usar datos de desembolsos agropecuarios para predecir el plazo del crédito, clasificar casos de cumplimiento y apoyar decisiones con ML?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  IMPACTO Y AUDIENCIA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08F"/>
                </a:solidFill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206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978408"/>
            <a:ext cx="640080" cy="6400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515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9784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1A"/>
                </a:solidFill>
              </a:rPr>
              <a:t>Productores Agropecuarios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15544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5E4A"/>
                </a:solidFill>
              </a:rPr>
              <a:t>Especialmente pequeños productores e ingresos bajos que acceden a crédito de fomento.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777240"/>
            <a:ext cx="4206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83480" y="978408"/>
            <a:ext cx="640080" cy="640080"/>
          </a:xfrm>
          <a:prstGeom prst="ellipse">
            <a:avLst/>
          </a:prstGeom>
          <a:solidFill>
            <a:srgbClr val="4A8C3F"/>
          </a:solidFill>
          <a:ln w="12700">
            <a:solidFill>
              <a:srgbClr val="4A8C3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0515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60720" y="9784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1A"/>
                </a:solidFill>
              </a:rPr>
              <a:t>Entidades Financieras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83480" y="15544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5E4A"/>
                </a:solidFill>
              </a:rPr>
              <a:t>Intermediarios que gestionan créditos de fomento y requieren análisis de riesgo y plazos.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65760" y="2743200"/>
            <a:ext cx="4206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4360" y="2944368"/>
            <a:ext cx="640080" cy="640080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01752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29443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1A"/>
                </a:solidFill>
              </a:rPr>
              <a:t>Equipos de Analítica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94360" y="35204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5E4A"/>
                </a:solidFill>
              </a:rPr>
              <a:t>Responsables de seguimiento, toma de decisiones públicas e institucionales basadas en datos.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54880" y="2743200"/>
            <a:ext cx="4206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83480" y="2944368"/>
            <a:ext cx="640080" cy="640080"/>
          </a:xfrm>
          <a:prstGeom prst="ellipse">
            <a:avLst/>
          </a:prstGeom>
          <a:solidFill>
            <a:srgbClr val="6AAE55"/>
          </a:solidFill>
          <a:ln w="12700">
            <a:solidFill>
              <a:srgbClr val="6AAE55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01752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60720" y="29443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1A"/>
                </a:solidFill>
              </a:rPr>
              <a:t>Cadenas Productivas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983480" y="35204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5E4A"/>
                </a:solidFill>
              </a:rPr>
              <a:t>Comerciantes y actores que necesitan información clara sobre inversión y capital de trabajo.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  ARQUITECTURA DE IA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08F"/>
                </a:solidFill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3749040" cy="3931920"/>
          </a:xfrm>
          <a:prstGeom prst="roundRect">
            <a:avLst>
              <a:gd name="adj" fmla="val 292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4480" y="914400"/>
            <a:ext cx="1371600" cy="1371600"/>
          </a:xfrm>
          <a:prstGeom prst="ellipse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368" y="1143000"/>
            <a:ext cx="896112" cy="8961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4231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Modelos Supervisados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743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0D882"/>
                </a:solidFill>
              </a:rPr>
              <a:t>Seleccionado ✓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31089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El dataset cuenta con variables objetivo claras y datos históricos etiquetados que permiten medir el desempeño con métricas precisas.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43400" y="777240"/>
            <a:ext cx="44805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886968"/>
            <a:ext cx="566928" cy="566928"/>
          </a:xfrm>
          <a:prstGeom prst="ellipse">
            <a:avLst/>
          </a:prstGeom>
          <a:solidFill>
            <a:srgbClr val="4A8C3F"/>
          </a:solidFill>
          <a:ln w="12700">
            <a:solidFill>
              <a:srgbClr val="4A8C3F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960120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57800" y="896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1A"/>
                </a:solidFill>
              </a:rPr>
              <a:t>Regresión Lineal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0" y="13898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E4A"/>
                </a:solidFill>
              </a:rPr>
              <a:t>Predice el plazo del crédito (variable numérica continua).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572000" y="1783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08F"/>
                </a:solidFill>
              </a:rPr>
              <a:t>Métricas: MAE · RMSE · R²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343400" y="2651760"/>
            <a:ext cx="44805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0" y="2770632"/>
            <a:ext cx="566928" cy="566928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2834640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57800" y="27889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1A"/>
                </a:solidFill>
              </a:rPr>
              <a:t>Regresión Logística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0" y="3273552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5E4A"/>
                </a:solidFill>
              </a:rPr>
              <a:t>Clasifica cumplimiento simulado: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5E4A"/>
                </a:solidFill>
              </a:rPr>
              <a:t>1 = plazo ≤ mediana del dataset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5E4A"/>
                </a:solidFill>
              </a:rPr>
              <a:t>0 = plazo &gt; mediana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572000" y="4114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08F"/>
                </a:solidFill>
              </a:rPr>
              <a:t>Métricas: Accuracy · Precisión · Recall · F1 · Matriz de Confusión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  DATOS Y PROCESO ETL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08F"/>
                </a:solidFill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886968"/>
            <a:ext cx="530352" cy="530352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95097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8961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Fuente de Datos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94360" y="132588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CSV: </a:t>
            </a:r>
            <a:r>
              <a:rPr lang="en-US" sz="1050" dirty="0">
                <a:solidFill>
                  <a:srgbClr val="FFFFFF"/>
                </a:solidFill>
              </a:rPr>
              <a:t>Desembolsos Crédito Fomento Agropecuario
~885 MB · muestra inicial: 200,000 registros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5760" y="26060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371600" y="2743200"/>
            <a:ext cx="594360" cy="594360"/>
          </a:xfrm>
          <a:prstGeom prst="ellipse">
            <a:avLst/>
          </a:prstGeom>
          <a:solidFill>
            <a:srgbClr val="4A8C3F"/>
          </a:solidFill>
          <a:ln w="12700">
            <a:solidFill>
              <a:srgbClr val="4A8C3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896" y="2807208"/>
            <a:ext cx="429768" cy="4297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" y="3429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8C3F"/>
                </a:solidFill>
              </a:rPr>
              <a:t>EXTRACT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02920" y="3794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4A5E4A"/>
                </a:solidFill>
              </a:rPr>
              <a:t>CSV + notebook Python, landing page HTML, app Streamlit y repositorio GitHub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017520" y="3474720"/>
            <a:ext cx="182880" cy="384048"/>
          </a:xfrm>
          <a:prstGeom prst="round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246120" y="26060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251960" y="2743200"/>
            <a:ext cx="594360" cy="594360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256" y="2807208"/>
            <a:ext cx="429768" cy="4297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337560" y="3429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A84B"/>
                </a:solidFill>
              </a:rPr>
              <a:t>TRANSFORM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383280" y="3794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4A5E4A"/>
                </a:solidFill>
              </a:rPr>
              <a:t>Limpieza de encoding, fechas, columnas numéricas, nulos, duplicados y variables derivadas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5897880" y="3474720"/>
            <a:ext cx="182880" cy="384048"/>
          </a:xfrm>
          <a:prstGeom prst="round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126480" y="26060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132320" y="2743200"/>
            <a:ext cx="594360" cy="594360"/>
          </a:xfrm>
          <a:prstGeom prst="ellipse">
            <a:avLst/>
          </a:prstGeom>
          <a:solidFill>
            <a:srgbClr val="6AAE55"/>
          </a:solidFill>
          <a:ln w="12700">
            <a:solidFill>
              <a:srgbClr val="6AAE55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4616" y="2807208"/>
            <a:ext cx="429768" cy="4297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217920" y="3429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AAE55"/>
                </a:solidFill>
              </a:rPr>
              <a:t>LOAD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263640" y="3794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4A5E4A"/>
                </a:solidFill>
              </a:rPr>
              <a:t>DataFrame limpio listo para gráficos, métricas, modelos ML y despliegue en Streamlit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4160520" y="777240"/>
            <a:ext cx="4663440" cy="1645920"/>
          </a:xfrm>
          <a:prstGeom prst="roundRect">
            <a:avLst>
              <a:gd name="adj" fmla="val 5556"/>
            </a:avLst>
          </a:prstGeom>
          <a:solidFill>
            <a:srgbClr val="EDF3E8"/>
          </a:solidFill>
          <a:ln w="12700">
            <a:solidFill>
              <a:srgbClr val="4A8C3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4343400" y="8686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1A"/>
                </a:solidFill>
              </a:rPr>
              <a:t>Principales variables del dataset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343400" y="1261872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80" dirty="0">
                <a:solidFill>
                  <a:srgbClr val="4A5E4A"/>
                </a:solidFill>
              </a:rPr>
              <a:t>Fecha crédito · Municipio · Tipo cartera · Línea crédito · Cadena productiva · Eslabón</a:t>
            </a:r>
            <a:endParaRPr lang="en-US" sz="98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80" dirty="0">
                <a:solidFill>
                  <a:srgbClr val="4A5E4A"/>
                </a:solidFill>
              </a:rPr>
              <a:t>Tipo productor · Tipo beneficiario · Sexo · Valor crédito · Valor inversión</a:t>
            </a:r>
            <a:endParaRPr lang="en-US" sz="98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80" dirty="0">
                <a:solidFill>
                  <a:srgbClr val="4A5E4A"/>
                </a:solidFill>
              </a:rPr>
              <a:t>Plazo · Cuotas · Período de gracia · Tasa indexación · Subsidio · Programa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  ANÁLISIS EXPLORATORIO (EDA)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08F"/>
                </a:solidFill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2743200" cy="43891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7724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Barras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0759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E4A"/>
                </a:solidFill>
              </a:rPr>
              <a:t>Comparar líneas de crédito por volumen y monto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77724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777240"/>
            <a:ext cx="2743200" cy="438912"/>
          </a:xfrm>
          <a:prstGeom prst="rect">
            <a:avLst/>
          </a:prstGeom>
          <a:solidFill>
            <a:srgbClr val="4A8C3F"/>
          </a:solidFill>
          <a:ln w="12700">
            <a:solidFill>
              <a:srgbClr val="4A8C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77724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Líneas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30759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E4A"/>
                </a:solidFill>
              </a:rPr>
              <a:t>Tendencia mensual de desembolsos a lo largo del tiempo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77724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777240"/>
            <a:ext cx="2743200" cy="43891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77724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Pie Chart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130759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E4A"/>
                </a:solidFill>
              </a:rPr>
              <a:t>Participación por tipo de productor en el total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74320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743200"/>
            <a:ext cx="2743200" cy="438912"/>
          </a:xfrm>
          <a:prstGeom prst="rect">
            <a:avLst/>
          </a:prstGeom>
          <a:solidFill>
            <a:srgbClr val="6AAE55"/>
          </a:solidFill>
          <a:ln w="12700">
            <a:solidFill>
              <a:srgbClr val="6AAE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743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Histograma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27355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E4A"/>
                </a:solidFill>
              </a:rPr>
              <a:t>Distribución del valor crédito en el dataset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37560" y="274320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37560" y="2743200"/>
            <a:ext cx="2743200" cy="438912"/>
          </a:xfrm>
          <a:prstGeom prst="rect">
            <a:avLst/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743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Boxplot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27355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E4A"/>
                </a:solidFill>
              </a:rPr>
              <a:t>Comparación de grupos: tipo productor vs plazo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274320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09360" y="2743200"/>
            <a:ext cx="2743200" cy="438912"/>
          </a:xfrm>
          <a:prstGeom prst="rect">
            <a:avLst/>
          </a:prstGeom>
          <a:solidFill>
            <a:srgbClr val="4A5E4A"/>
          </a:solidFill>
          <a:ln w="12700">
            <a:solidFill>
              <a:srgbClr val="4A5E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2743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Heatmap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46520" y="327355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E4A"/>
                </a:solidFill>
              </a:rPr>
              <a:t>Correlaciones entre variables numéricas del dataset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  MATRIZ DOFA — GESTIÓN DE DATOS EN IA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08F"/>
                </a:solidFill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4206240" cy="1965960"/>
          </a:xfrm>
          <a:prstGeom prst="roundRect">
            <a:avLst>
              <a:gd name="adj" fmla="val 4651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8412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FORTALEZAS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2252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</a:t>
            </a:r>
            <a:r>
              <a:rPr lang="en-US" sz="950" dirty="0">
                <a:solidFill>
                  <a:srgbClr val="FFFFFF"/>
                </a:solidFill>
              </a:rPr>
              <a:t>Dataset estructurado con variables financieras, temporales y categóricas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5636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</a:t>
            </a:r>
            <a:r>
              <a:rPr lang="en-US" sz="950" dirty="0">
                <a:solidFill>
                  <a:srgbClr val="FFFFFF"/>
                </a:solidFill>
              </a:rPr>
              <a:t>Archivo CSV disponible y notebook reproducible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19019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</a:t>
            </a:r>
            <a:r>
              <a:rPr lang="en-US" sz="950" dirty="0">
                <a:solidFill>
                  <a:srgbClr val="FFFFFF"/>
                </a:solidFill>
              </a:rPr>
              <a:t>Notebook, landing page y app Streamlit ya estructurados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</a:t>
            </a:r>
            <a:r>
              <a:rPr lang="en-US" sz="950" dirty="0">
                <a:solidFill>
                  <a:srgbClr val="FFFFFF"/>
                </a:solidFill>
              </a:rPr>
              <a:t>Resultados comparables por productor, sexo, línea y cadena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749808"/>
            <a:ext cx="4206240" cy="1965960"/>
          </a:xfrm>
          <a:prstGeom prst="roundRect">
            <a:avLst>
              <a:gd name="adj" fmla="val 4651"/>
            </a:avLst>
          </a:prstGeom>
          <a:solidFill>
            <a:srgbClr val="6AAE55"/>
          </a:solidFill>
          <a:ln w="12700">
            <a:solidFill>
              <a:srgbClr val="6AAE5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8412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OPORTUNIDADES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2252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</a:t>
            </a:r>
            <a:r>
              <a:rPr lang="en-US" sz="950" dirty="0">
                <a:solidFill>
                  <a:srgbClr val="FFFFFF"/>
                </a:solidFill>
              </a:rPr>
              <a:t>Automatizar limpieza con Python y Streamlit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37760" y="15636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</a:t>
            </a:r>
            <a:r>
              <a:rPr lang="en-US" sz="950" dirty="0">
                <a:solidFill>
                  <a:srgbClr val="FFFFFF"/>
                </a:solidFill>
              </a:rPr>
              <a:t>Despliegue en GitHub para compartir resultados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37760" y="19019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</a:t>
            </a:r>
            <a:r>
              <a:rPr lang="en-US" sz="950" dirty="0">
                <a:solidFill>
                  <a:srgbClr val="FFFFFF"/>
                </a:solidFill>
              </a:rPr>
              <a:t>Integrar PQRS reales, datos municipales o APIs públicas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37760" y="2240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</a:t>
            </a:r>
            <a:r>
              <a:rPr lang="en-US" sz="950" dirty="0">
                <a:solidFill>
                  <a:srgbClr val="FFFFFF"/>
                </a:solidFill>
              </a:rPr>
              <a:t>Crear auditorías de equidad para decisiones justas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4206240" cy="1965960"/>
          </a:xfrm>
          <a:prstGeom prst="roundRect">
            <a:avLst>
              <a:gd name="adj" fmla="val 4651"/>
            </a:avLst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2971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1A"/>
                </a:solidFill>
              </a:rPr>
              <a:t>DEBILIDADES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355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1A"/>
                </a:solidFill>
              </a:rPr>
              <a:t>• </a:t>
            </a:r>
            <a:r>
              <a:rPr lang="en-US" sz="950" dirty="0">
                <a:solidFill>
                  <a:srgbClr val="1A2E1A"/>
                </a:solidFill>
              </a:rPr>
              <a:t>Problemas de codificación y columnas numéricas con comas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6941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1A"/>
                </a:solidFill>
              </a:rPr>
              <a:t>• </a:t>
            </a:r>
            <a:r>
              <a:rPr lang="en-US" sz="950" dirty="0">
                <a:solidFill>
                  <a:srgbClr val="1A2E1A"/>
                </a:solidFill>
              </a:rPr>
              <a:t>Archivo original muy pesado para GitHub (885 MB)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40325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1A"/>
                </a:solidFill>
              </a:rPr>
              <a:t>• </a:t>
            </a:r>
            <a:r>
              <a:rPr lang="en-US" sz="950" dirty="0">
                <a:solidFill>
                  <a:srgbClr val="1A2E1A"/>
                </a:solidFill>
              </a:rPr>
              <a:t>Dataset sin variables reales de PQRS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43708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1A"/>
                </a:solidFill>
              </a:rPr>
              <a:t>• </a:t>
            </a:r>
            <a:r>
              <a:rPr lang="en-US" sz="950" dirty="0">
                <a:solidFill>
                  <a:srgbClr val="1A2E1A"/>
                </a:solidFill>
              </a:rPr>
              <a:t>Algunas categorías pueden estar subrepresentadas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880360"/>
            <a:ext cx="4206240" cy="1965960"/>
          </a:xfrm>
          <a:prstGeom prst="roundRect">
            <a:avLst>
              <a:gd name="adj" fmla="val 4651"/>
            </a:avLst>
          </a:prstGeom>
          <a:solidFill>
            <a:srgbClr val="4A5E4A"/>
          </a:solidFill>
          <a:ln w="12700">
            <a:solidFill>
              <a:srgbClr val="4A5E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37760" y="2971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AMENAZAS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3355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</a:t>
            </a:r>
            <a:r>
              <a:rPr lang="en-US" sz="950" dirty="0">
                <a:solidFill>
                  <a:srgbClr val="FFFFFF"/>
                </a:solidFill>
              </a:rPr>
              <a:t>Errores de carga pueden producir conclusiones equivocadas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37760" y="36941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</a:t>
            </a:r>
            <a:r>
              <a:rPr lang="en-US" sz="950" dirty="0">
                <a:solidFill>
                  <a:srgbClr val="FFFFFF"/>
                </a:solidFill>
              </a:rPr>
              <a:t>Limitaciones de memoria en plataformas gratuitas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37760" y="40325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</a:t>
            </a:r>
            <a:r>
              <a:rPr lang="en-US" sz="950" dirty="0">
                <a:solidFill>
                  <a:srgbClr val="FFFFFF"/>
                </a:solidFill>
              </a:rPr>
              <a:t>Cambios en formatos de datos exigen ajustes al ETL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37760" y="43708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</a:t>
            </a:r>
            <a:r>
              <a:rPr lang="en-US" sz="950" dirty="0">
                <a:solidFill>
                  <a:srgbClr val="FFFFFF"/>
                </a:solidFill>
              </a:rPr>
              <a:t>Uso inadecuado puede afectar el acceso al crédito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  OBJETIVOS SMART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08F"/>
                </a:solidFill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841248"/>
          </a:xfrm>
          <a:prstGeom prst="roundRect">
            <a:avLst>
              <a:gd name="adj" fmla="val 10870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8046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D882"/>
                </a:solidFill>
              </a:rPr>
              <a:t>Objetivo General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04241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Diseñar y desplegar una solución analítica con ML para transformar el CSV de desembolsos en información limpia, visual y predictiva — con gráficos, modelos de regresión y app Streamlit publicable en GitHub.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1572768" cy="292608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9536" y="1920240"/>
            <a:ext cx="594360" cy="5943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62432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E1A"/>
                </a:solidFill>
              </a:rPr>
              <a:t>Problema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081528"/>
            <a:ext cx="138988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5E4A"/>
                </a:solidFill>
              </a:rPr>
              <a:t>Comprender patrones de desembolso, plazos y comportamiento por línea de crédito, tipo de productor y cadena.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66544" y="1783080"/>
            <a:ext cx="1572768" cy="292608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1920240"/>
            <a:ext cx="594360" cy="594360"/>
          </a:xfrm>
          <a:prstGeom prst="ellipse">
            <a:avLst/>
          </a:prstGeom>
          <a:solidFill>
            <a:srgbClr val="6AAE55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57984" y="262432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E1A"/>
                </a:solidFill>
              </a:rPr>
              <a:t>Modelo ML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157984" y="3081528"/>
            <a:ext cx="138988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5E4A"/>
                </a:solidFill>
              </a:rPr>
              <a:t>Regresión lineal para plazo y regresión logística para clasificar cumplimiento simulado.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67328" y="1783080"/>
            <a:ext cx="1572768" cy="292608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61104" y="1920240"/>
            <a:ext cx="594360" cy="5943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61104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58768" y="262432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E1A"/>
                </a:solidFill>
              </a:rPr>
              <a:t>Datos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858768" y="3081528"/>
            <a:ext cx="138988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5E4A"/>
                </a:solidFill>
              </a:rPr>
              <a:t>Cargar, limpiar, convertir fechas/números, tratar nulos, eliminar duplicados y crear variables derivadas.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68112" y="1783080"/>
            <a:ext cx="1572768" cy="292608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61888" y="1920240"/>
            <a:ext cx="594360" cy="594360"/>
          </a:xfrm>
          <a:prstGeom prst="ellipse">
            <a:avLst/>
          </a:prstGeom>
          <a:solidFill>
            <a:srgbClr val="6AAE55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61888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59552" y="262432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E1A"/>
                </a:solidFill>
              </a:rPr>
              <a:t>Riesgos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559552" y="3081528"/>
            <a:ext cx="138988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5E4A"/>
                </a:solidFill>
              </a:rPr>
              <a:t>Calidad de datos, sesgo, privacidad, peso del archivo y mala interpretación de resultados.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68896" y="1783080"/>
            <a:ext cx="1572768" cy="292608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62672" y="1920240"/>
            <a:ext cx="594360" cy="5943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62672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60336" y="262432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E1A"/>
                </a:solidFill>
              </a:rPr>
              <a:t>Presentación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260336" y="3081528"/>
            <a:ext cx="138988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4A5E4A"/>
                </a:solidFill>
              </a:rPr>
              <a:t>Demostrar la solución con landing page, panel de gráficos, notebook y app Streamlit como prototipo.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  DIMENSIÓN ÉTICA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08F"/>
                </a:solidFill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572768" cy="40233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49808"/>
            <a:ext cx="1572768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978408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0515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673352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2E1A"/>
                </a:solidFill>
              </a:rPr>
              <a:t>Privacidad y Datos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258568"/>
            <a:ext cx="138988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00" dirty="0">
                <a:solidFill>
                  <a:srgbClr val="4A5E4A"/>
                </a:solidFill>
              </a:rPr>
              <a:t>Sin datos personales de estudiantes. PQRS o datos de productores deben anonimizarse y limitar acceso a información sensible.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066544" y="749808"/>
            <a:ext cx="1572768" cy="40233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066544" y="749808"/>
            <a:ext cx="1572768" cy="457200"/>
          </a:xfrm>
          <a:prstGeom prst="rect">
            <a:avLst/>
          </a:prstGeom>
          <a:solidFill>
            <a:srgbClr val="4A8C3F"/>
          </a:solidFill>
          <a:ln w="12700">
            <a:solidFill>
              <a:srgbClr val="4A8C3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60320" y="978408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472" y="10515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57984" y="1673352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2E1A"/>
                </a:solidFill>
              </a:rPr>
              <a:t>Sesgo y Representación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157984" y="2258568"/>
            <a:ext cx="138988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00" dirty="0">
                <a:solidFill>
                  <a:srgbClr val="4A5E4A"/>
                </a:solidFill>
              </a:rPr>
              <a:t>Revisar resultados por tipo de productor, sexo, cadena y municipio. Documentar categorías con baja representación.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767328" y="749808"/>
            <a:ext cx="1572768" cy="40233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767328" y="749808"/>
            <a:ext cx="1572768" cy="45720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261104" y="978408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256" y="105156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858768" y="1673352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2E1A"/>
                </a:solidFill>
              </a:rPr>
              <a:t>Transparencia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858768" y="2258568"/>
            <a:ext cx="138988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00" dirty="0">
                <a:solidFill>
                  <a:srgbClr val="4A5E4A"/>
                </a:solidFill>
              </a:rPr>
              <a:t>Explicar variables, métricas y límites en lenguaje claro. La landing y Streamlit muestran visualizaciones interpretables.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5468112" y="749808"/>
            <a:ext cx="1572768" cy="40233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468112" y="749808"/>
            <a:ext cx="1572768" cy="457200"/>
          </a:xfrm>
          <a:prstGeom prst="rect">
            <a:avLst/>
          </a:prstGeom>
          <a:solidFill>
            <a:srgbClr val="6AAE55"/>
          </a:solidFill>
          <a:ln w="12700">
            <a:solidFill>
              <a:srgbClr val="6AAE5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961888" y="978408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105156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559552" y="1673352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2E1A"/>
                </a:solidFill>
              </a:rPr>
              <a:t>No Estigmatización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559552" y="2258568"/>
            <a:ext cx="138988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00" dirty="0">
                <a:solidFill>
                  <a:srgbClr val="4A5E4A"/>
                </a:solidFill>
              </a:rPr>
              <a:t>Las predicciones son apoyo analítico, nunca una decisión automática. No se etiquetan estudiantes ni productores.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7168896" y="749808"/>
            <a:ext cx="1572768" cy="40233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168896" y="749808"/>
            <a:ext cx="1572768" cy="457200"/>
          </a:xfrm>
          <a:prstGeom prst="rect">
            <a:avLst/>
          </a:prstGeom>
          <a:solidFill>
            <a:srgbClr val="4A5E4A"/>
          </a:solidFill>
          <a:ln w="12700">
            <a:solidFill>
              <a:srgbClr val="4A5E4A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662672" y="978408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5824" y="1051560"/>
            <a:ext cx="457200" cy="4572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260336" y="1673352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2E1A"/>
                </a:solidFill>
              </a:rPr>
              <a:t>Supervisión Humana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7260336" y="2258568"/>
            <a:ext cx="138988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00" dirty="0">
                <a:solidFill>
                  <a:srgbClr val="4A5E4A"/>
                </a:solidFill>
              </a:rPr>
              <a:t>La decisión final recae en analistas o responsables institucionales. El modelo solo recomienda, alerta o prioriza.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09  ELEVATOR PITCH — 5 MINUTOS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08F"/>
                </a:solidFill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1188720" cy="777240"/>
          </a:xfrm>
          <a:prstGeom prst="roundRect">
            <a:avLst>
              <a:gd name="adj" fmla="val 5882"/>
            </a:avLst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0—1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1612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Contexto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91640" y="77724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5E4A"/>
                </a:solidFill>
              </a:rPr>
              <a:t>Miles de registros de crédito agropecuario, pero convertirlos en decisiones rápidas no es sencillo. Queremos entender y anticipar plazos, montos y patrones de desembolso.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6459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645920"/>
            <a:ext cx="1188720" cy="777240"/>
          </a:xfrm>
          <a:prstGeom prst="roundRect">
            <a:avLst>
              <a:gd name="adj" fmla="val 5882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459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1—2 min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0299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Solución IA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91640" y="164592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5E4A"/>
                </a:solidFill>
              </a:rPr>
              <a:t>Usamos IA supervisada: regresión lineal para predecir el plazo del crédito y regresión logística para clasificar cumplimiento simulado.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51460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514600"/>
            <a:ext cx="1188720" cy="777240"/>
          </a:xfrm>
          <a:prstGeom prst="roundRect">
            <a:avLst>
              <a:gd name="adj" fmla="val 5882"/>
            </a:avLst>
          </a:prstGeom>
          <a:solidFill>
            <a:srgbClr val="4A8C3F"/>
          </a:solidFill>
          <a:ln w="12700">
            <a:solidFill>
              <a:srgbClr val="4A8C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146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2—3 min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8986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Datos y reto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91640" y="251460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5E4A"/>
                </a:solidFill>
              </a:rPr>
              <a:t>El modelo aprende de fecha, línea, tipo de productor, cadena, valor, inversión, cuotas y subsidios. El reto: limpiar formatos y manejar 885 MB de datos.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383280"/>
            <a:ext cx="1188720" cy="777240"/>
          </a:xfrm>
          <a:prstGeom prst="roundRect">
            <a:avLst>
              <a:gd name="adj" fmla="val 5882"/>
            </a:avLst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3832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3—4 min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7673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Riesgos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91640" y="33832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5E4A"/>
                </a:solidFill>
              </a:rPr>
              <a:t>Datos incompletos o sesgados generan decisiones injustas. Lo mitigamos con limpieza, análisis de grupos, transparencia y supervisión humana.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25196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251960"/>
            <a:ext cx="1188720" cy="777240"/>
          </a:xfrm>
          <a:prstGeom prst="roundRect">
            <a:avLst>
              <a:gd name="adj" fmla="val 5882"/>
            </a:avLst>
          </a:prstGeom>
          <a:solidFill>
            <a:srgbClr val="6AAE55"/>
          </a:solidFill>
          <a:ln w="12700">
            <a:solidFill>
              <a:srgbClr val="6AAE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2519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4—5 min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6360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Impacto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691640" y="425196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5E4A"/>
                </a:solidFill>
              </a:rPr>
              <a:t>Un analista abre la app, sube el CSV y en minutos ve qué líneas concentran recursos, cómo evolucionan los desembolsos y qué casos requieren atención.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2C5F2D">
              <a:alpha val="40000"/>
            </a:srgbClr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560320" cy="2560320"/>
          </a:xfrm>
          <a:prstGeom prst="ellipse">
            <a:avLst/>
          </a:prstGeom>
          <a:solidFill>
            <a:srgbClr val="2C5F2D">
              <a:alpha val="30000"/>
            </a:srgbClr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Entregables del Proyecto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114800" cy="804672"/>
          </a:xfrm>
          <a:prstGeom prst="roundRect">
            <a:avLst>
              <a:gd name="adj" fmla="val 11364"/>
            </a:avLst>
          </a:prstGeom>
          <a:solidFill>
            <a:srgbClr val="2C5F2D">
              <a:alpha val="70000"/>
            </a:srgbClr>
          </a:solidFill>
          <a:ln w="12700">
            <a:solidFill>
              <a:srgbClr val="4A8C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088136"/>
            <a:ext cx="548640" cy="548640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152144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10332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Notebook Python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61872" y="13807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08F"/>
                </a:solidFill>
              </a:rPr>
              <a:t>analisis_desembolsos_credito_agropecuario.ipynb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1965960"/>
            <a:ext cx="4114800" cy="804672"/>
          </a:xfrm>
          <a:prstGeom prst="roundRect">
            <a:avLst>
              <a:gd name="adj" fmla="val 11364"/>
            </a:avLst>
          </a:prstGeom>
          <a:solidFill>
            <a:srgbClr val="2C5F2D">
              <a:alpha val="70000"/>
            </a:srgbClr>
          </a:solidFill>
          <a:ln w="12700">
            <a:solidFill>
              <a:srgbClr val="4A8C3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2093976"/>
            <a:ext cx="548640" cy="548640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2157984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61872" y="20391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Landing Page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261872" y="23865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08F"/>
                </a:solidFill>
              </a:rPr>
              <a:t>landing_desembolsos_credito.html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57200" y="2971800"/>
            <a:ext cx="4114800" cy="804672"/>
          </a:xfrm>
          <a:prstGeom prst="roundRect">
            <a:avLst>
              <a:gd name="adj" fmla="val 11364"/>
            </a:avLst>
          </a:prstGeom>
          <a:solidFill>
            <a:srgbClr val="2C5F2D">
              <a:alpha val="70000"/>
            </a:srgbClr>
          </a:solidFill>
          <a:ln w="12700">
            <a:solidFill>
              <a:srgbClr val="4A8C3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94360" y="3099816"/>
            <a:ext cx="548640" cy="548640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3163824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61872" y="30449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Panel de Gráficos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261872" y="33924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08F"/>
                </a:solidFill>
              </a:rPr>
              <a:t>graficos_desembolsos_credito.png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937760" y="960120"/>
            <a:ext cx="4114800" cy="804672"/>
          </a:xfrm>
          <a:prstGeom prst="roundRect">
            <a:avLst>
              <a:gd name="adj" fmla="val 11364"/>
            </a:avLst>
          </a:prstGeom>
          <a:solidFill>
            <a:srgbClr val="2C5F2D">
              <a:alpha val="70000"/>
            </a:srgbClr>
          </a:solidFill>
          <a:ln w="12700">
            <a:solidFill>
              <a:srgbClr val="4A8C3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074920" y="1088136"/>
            <a:ext cx="548640" cy="548640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7216" y="1152144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42432" y="10332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 Streamlit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742432" y="13807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08F"/>
                </a:solidFill>
              </a:rPr>
              <a:t>Streamlit_app.py — desplegable y compartible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937760" y="1965960"/>
            <a:ext cx="4114800" cy="804672"/>
          </a:xfrm>
          <a:prstGeom prst="roundRect">
            <a:avLst>
              <a:gd name="adj" fmla="val 11364"/>
            </a:avLst>
          </a:prstGeom>
          <a:solidFill>
            <a:srgbClr val="2C5F2D">
              <a:alpha val="70000"/>
            </a:srgbClr>
          </a:solidFill>
          <a:ln w="12700">
            <a:solidFill>
              <a:srgbClr val="4A8C3F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074920" y="2093976"/>
            <a:ext cx="548640" cy="548640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7216" y="2157984"/>
            <a:ext cx="402336" cy="40233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742432" y="20391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Repositorio GitHub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742432" y="23865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08F"/>
                </a:solidFill>
              </a:rPr>
              <a:t>github.com/afcbillonarios-prog/final-talentotech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457200" y="4069080"/>
            <a:ext cx="8229600" cy="36576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0D882"/>
                </a:solidFill>
              </a:rPr>
              <a:t>"Un mal modelo con buenos datos mejora. Un buen modelo con malos datos fracasa."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859536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8F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1104</Words>
  <Application>Microsoft Office PowerPoint</Application>
  <PresentationFormat>Presentación en pantalla (16:9)</PresentationFormat>
  <Paragraphs>165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Talento Tech – Análisis Predictivo de Crédito Agropecuario</dc:title>
  <dc:subject>PptxGenJS Presentation</dc:subject>
  <dc:creator>PptxGenJS</dc:creator>
  <cp:lastModifiedBy>Julian Trujillo</cp:lastModifiedBy>
  <cp:revision>1</cp:revision>
  <dcterms:created xsi:type="dcterms:W3CDTF">2026-06-09T15:46:07Z</dcterms:created>
  <dcterms:modified xsi:type="dcterms:W3CDTF">2026-06-09T15:52:50Z</dcterms:modified>
</cp:coreProperties>
</file>